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3"/>
  </p:notesMasterIdLst>
  <p:sldIdLst>
    <p:sldId id="1298" r:id="rId2"/>
    <p:sldId id="1304" r:id="rId3"/>
    <p:sldId id="1303" r:id="rId4"/>
    <p:sldId id="1302" r:id="rId5"/>
    <p:sldId id="1307" r:id="rId6"/>
    <p:sldId id="1311" r:id="rId7"/>
    <p:sldId id="1306" r:id="rId8"/>
    <p:sldId id="1308" r:id="rId9"/>
    <p:sldId id="1310" r:id="rId10"/>
    <p:sldId id="267" r:id="rId11"/>
    <p:sldId id="271" r:id="rId12"/>
  </p:sldIdLst>
  <p:sldSz cx="12192000" cy="6858000"/>
  <p:notesSz cx="12192000" cy="6858000"/>
  <p:custDataLst>
    <p:tags r:id="rId14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E0BAB-E0CB-D079-357C-856FBE07D8AB}" v="21" dt="2025-12-08T07:59:44.388"/>
    <p1510:client id="{F779CED3-26E9-3030-20EC-5C62617657A2}" v="27" dt="2025-12-09T04:14:35.4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  <p:pic>
        <p:nvPicPr>
          <p:cNvPr id="2" name="Picture 1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C52E178C-685F-8F57-5EBE-891CADDA36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 flipH="1">
            <a:off x="0" y="6412587"/>
            <a:ext cx="682906" cy="44541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hyperlink" Target="https://youtu.be/Q6-LZUxMPIc" TargetMode="Externa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hyperlink" Target="https://www.freepik.com/" TargetMode="Externa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A8BFA17-ACF5-21DA-81BC-A9A793A30FE6}"/>
              </a:ext>
            </a:extLst>
          </p:cNvPr>
          <p:cNvSpPr txBox="1"/>
          <p:nvPr/>
        </p:nvSpPr>
        <p:spPr>
          <a:xfrm>
            <a:off x="7096146" y="1597491"/>
            <a:ext cx="4421469" cy="5126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</a:rPr>
              <a:t>CodeTrust AI – Trust &amp; Verify AI-Generated Code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B0D1-B06C-3466-28E3-04DA70D1A6AD}"/>
              </a:ext>
            </a:extLst>
          </p:cNvPr>
          <p:cNvSpPr txBox="1"/>
          <p:nvPr/>
        </p:nvSpPr>
        <p:spPr>
          <a:xfrm>
            <a:off x="7040990" y="4193119"/>
            <a:ext cx="4748291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dirty="0">
                <a:solidFill>
                  <a:srgbClr val="213163"/>
                </a:solidFill>
              </a:rPr>
              <a:t>Team Leader Name - Kruparani Tomar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1-  Shabbir Shaikh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2- Anjali Tripathi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3 – Samarth Parmar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Team Member 4 – Sahil Shaikh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282E5-EFA4-B42A-3002-A121095746EB}"/>
              </a:ext>
            </a:extLst>
          </p:cNvPr>
          <p:cNvSpPr txBox="1"/>
          <p:nvPr/>
        </p:nvSpPr>
        <p:spPr>
          <a:xfrm>
            <a:off x="7070131" y="5990723"/>
            <a:ext cx="4699247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Under the mentorship of,</a:t>
            </a:r>
          </a:p>
          <a:p>
            <a:r>
              <a:rPr lang="en-US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M</a:t>
            </a:r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entor Name : Hiren Modha</a:t>
            </a:r>
            <a:r>
              <a:rPr lang="en-IN" i="1" dirty="0">
                <a:solidFill>
                  <a:srgbClr val="002060"/>
                </a:solidFill>
                <a:latin typeface="Times New Roman"/>
                <a:cs typeface="Times New Roman"/>
              </a:rPr>
              <a:t> 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7" name="TextShape 1">
            <a:extLst>
              <a:ext uri="{FF2B5EF4-FFF2-40B4-BE49-F238E27FC236}">
                <a16:creationId xmlns:a16="http://schemas.microsoft.com/office/drawing/2014/main" id="{67FAF34A-6BC6-A31A-2942-DC58DDD7543D}"/>
              </a:ext>
            </a:extLst>
          </p:cNvPr>
          <p:cNvSpPr txBox="1"/>
          <p:nvPr/>
        </p:nvSpPr>
        <p:spPr>
          <a:xfrm>
            <a:off x="7070131" y="2896024"/>
            <a:ext cx="3309283" cy="3637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200" dirty="0">
                <a:solidFill>
                  <a:srgbClr val="213163"/>
                </a:solidFill>
              </a:rPr>
              <a:t>Team ID -Team_13706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F410DA-0B5A-36C0-18E2-926FCDFD4CA7}"/>
              </a:ext>
            </a:extLst>
          </p:cNvPr>
          <p:cNvCxnSpPr/>
          <p:nvPr/>
        </p:nvCxnSpPr>
        <p:spPr>
          <a:xfrm>
            <a:off x="7153154" y="5822066"/>
            <a:ext cx="4143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Project overview - Introduction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07E3F00-B8A1-E3E6-46F3-9CBDC445523A}"/>
              </a:ext>
            </a:extLst>
          </p:cNvPr>
          <p:cNvSpPr txBox="1"/>
          <p:nvPr/>
        </p:nvSpPr>
        <p:spPr>
          <a:xfrm>
            <a:off x="390525" y="1700654"/>
            <a:ext cx="11159791" cy="31803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CodeTrust AI is an intelligent security platform designed specifically to analyze AI-generated code.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automatically detects security vulnerabilities, identifies hallucinated or unreliable logic, and provides secure patch recommendations with clear explanations.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acts as a trust layer between AI code generation tools and software deployment pipelines.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CodeTrust AI integrates into developer workflows and CI/CD pipelines to ensure that AI-generated code is verified before reaching production.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vulnerability detection, hallucination-aware analysis, and explainable security fixes, CodeTrust AI helps developers build secure software without slowing down innovation.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Problem Statement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66CEC1E-D414-60D6-7258-4ACDA0654F65}"/>
              </a:ext>
            </a:extLst>
          </p:cNvPr>
          <p:cNvSpPr txBox="1"/>
          <p:nvPr/>
        </p:nvSpPr>
        <p:spPr>
          <a:xfrm>
            <a:off x="390525" y="1709372"/>
            <a:ext cx="6860507" cy="451405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coding tools are rapidly being adopted by developers to accelerate software development.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AI-generated code often contains hidden security vulnerabilities, unsafe logic, and hallucinated APIs.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security scanners are designed for human-written code and fail to evaluate AI-specific risks. 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developers unknowingly deploy insecure AI-generated code into production systems, leading to security breaches, compliance risks, and increased remediation costs. 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currently a lack of specialized tools that can automatically detect vulnerabilities in AI-generated code and provide secure, explainable fixes.</a:t>
            </a:r>
          </a:p>
          <a:p>
            <a:pPr algn="just">
              <a:spcAft>
                <a:spcPts val="800"/>
              </a:spcAft>
              <a:buSzPct val="100000"/>
              <a:tabLst>
                <a:tab pos="299085" algn="l"/>
              </a:tabLst>
            </a:pP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D2581-4B01-48AC-2EFF-FBDB1DA9C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32" y="1187450"/>
            <a:ext cx="4940968" cy="1924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C131E0-8FAF-7A9F-D6BF-70F16A1CE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032" y="3149159"/>
            <a:ext cx="4940968" cy="1223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27B814-06CE-5B6D-021D-AE58993ED0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411" y="4373022"/>
            <a:ext cx="4796589" cy="23318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9DBE12-760F-6D5A-8CD1-F9B3A7E63139}"/>
              </a:ext>
            </a:extLst>
          </p:cNvPr>
          <p:cNvSpPr/>
          <p:nvPr/>
        </p:nvSpPr>
        <p:spPr>
          <a:xfrm>
            <a:off x="4053490" y="5351612"/>
            <a:ext cx="4876800" cy="8255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013" y="845438"/>
            <a:ext cx="2960627" cy="659796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200" spc="-10" dirty="0">
                <a:solidFill>
                  <a:srgbClr val="001F5F"/>
                </a:solidFill>
              </a:rPr>
              <a:t>Project Objectives</a:t>
            </a:r>
            <a:br>
              <a:rPr lang="en-IN" dirty="0"/>
            </a:br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BEAD1C-D4EE-217C-7DA3-DC537039DFC5}"/>
              </a:ext>
            </a:extLst>
          </p:cNvPr>
          <p:cNvSpPr txBox="1"/>
          <p:nvPr/>
        </p:nvSpPr>
        <p:spPr>
          <a:xfrm>
            <a:off x="485343" y="1798400"/>
            <a:ext cx="5610657" cy="348813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identify security vulnerabilities in AI-generated code. 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detect hallucinated APIs, unsafe logic, and insecure coding patterns.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provide explainable risk analysis and secure patch recommendations.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help developers verify AI-generated code before deployment.</a:t>
            </a:r>
          </a:p>
          <a:p>
            <a:pPr marL="283464" indent="-283464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improve trust, security, and reliability in AI-assisted software development</a:t>
            </a:r>
            <a:endParaRPr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blue arrow hitting a yellow and white target&#10;&#10;AI-generated content may be incorrect.">
            <a:extLst>
              <a:ext uri="{FF2B5EF4-FFF2-40B4-BE49-F238E27FC236}">
                <a16:creationId xmlns:a16="http://schemas.microsoft.com/office/drawing/2014/main" id="{D6C15AD9-CCF7-5E54-7691-52E46C42C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333" y="1794076"/>
            <a:ext cx="4038896" cy="31140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2A6685-464E-7EA4-55C6-EF702F7541D2}"/>
              </a:ext>
            </a:extLst>
          </p:cNvPr>
          <p:cNvSpPr txBox="1"/>
          <p:nvPr/>
        </p:nvSpPr>
        <p:spPr>
          <a:xfrm>
            <a:off x="5427949" y="5579700"/>
            <a:ext cx="771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https://youtu.be/Q6-LZUxMPIc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54C12-1E6B-5A77-C78F-685062FA5484}"/>
              </a:ext>
            </a:extLst>
          </p:cNvPr>
          <p:cNvSpPr txBox="1"/>
          <p:nvPr/>
        </p:nvSpPr>
        <p:spPr>
          <a:xfrm>
            <a:off x="4053490" y="5579700"/>
            <a:ext cx="25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Link:-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End </a:t>
            </a:r>
            <a:r>
              <a:rPr lang="en-IN" sz="2200" b="1" dirty="0">
                <a:solidFill>
                  <a:srgbClr val="213163"/>
                </a:solidFill>
              </a:rPr>
              <a:t>User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938976A-48BF-02EA-7BFA-5075C8725DD1}"/>
              </a:ext>
            </a:extLst>
          </p:cNvPr>
          <p:cNvSpPr txBox="1"/>
          <p:nvPr/>
        </p:nvSpPr>
        <p:spPr>
          <a:xfrm>
            <a:off x="485343" y="1443981"/>
            <a:ext cx="7199508" cy="27699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Developers using AI coding assistants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Startup Engineering Teams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Development Teams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DevSecOps Engineers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Teams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Regulated Organizations</a:t>
            </a:r>
          </a:p>
          <a:p>
            <a:pPr marL="283464" indent="-283464" algn="just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SaaS Product Developers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25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Wow factor</a:t>
            </a:r>
            <a:endParaRPr lang="en-US" sz="20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86D56-ECB0-9C30-4FA7-7144DEC39B49}"/>
              </a:ext>
            </a:extLst>
          </p:cNvPr>
          <p:cNvSpPr txBox="1"/>
          <p:nvPr/>
        </p:nvSpPr>
        <p:spPr>
          <a:xfrm>
            <a:off x="485342" y="1443981"/>
            <a:ext cx="514543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First-of-its-kind platform focused specifically on AI-generated code security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AI hallucinations, not just traditional vulnerabilities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 secure patches, not only alerts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as a trust layer for AI coding tools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integrated into developer workflows* Bridges the gap between AI speed and software security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315663-C2B2-AE43-B030-5B02D4AE4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621" y="1443981"/>
            <a:ext cx="5883374" cy="47963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200" b="1" dirty="0">
                <a:solidFill>
                  <a:srgbClr val="213163"/>
                </a:solidFill>
              </a:rPr>
              <a:t>Modelling</a:t>
            </a:r>
            <a:endParaRPr lang="en-US" sz="2200" b="1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CDDE9-4DD6-A3C8-76AD-12AF2F411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916" y="1187449"/>
            <a:ext cx="8021052" cy="54840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Result / </a:t>
            </a:r>
            <a:r>
              <a:rPr lang="en-IN" sz="2200" b="1" dirty="0">
                <a:solidFill>
                  <a:srgbClr val="213163"/>
                </a:solidFill>
              </a:rPr>
              <a:t>Outcomes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9569A-F2B9-02F0-3A84-25595CEBE0AE}"/>
              </a:ext>
            </a:extLst>
          </p:cNvPr>
          <p:cNvSpPr txBox="1"/>
          <p:nvPr/>
        </p:nvSpPr>
        <p:spPr>
          <a:xfrm>
            <a:off x="390525" y="1572995"/>
            <a:ext cx="583381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detection of common vulnerabilities such as SQL Injection, XSS, and insecure logic.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Identification of hallucinated APIs and unsafe AI assumptions.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secure, OWASP-compliant patch recommendations.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code review effort.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security confidence for AI-generated code. Working prototype demonstrating real-time AI code verification.</a:t>
            </a:r>
          </a:p>
        </p:txBody>
      </p:sp>
      <p:pic>
        <p:nvPicPr>
          <p:cNvPr id="6" name="Picture 2" descr="PlantUML diagram">
            <a:extLst>
              <a:ext uri="{FF2B5EF4-FFF2-40B4-BE49-F238E27FC236}">
                <a16:creationId xmlns:a16="http://schemas.microsoft.com/office/drawing/2014/main" id="{C30A1472-56D7-5B51-5642-F201FADBA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4"/>
          <a:stretch>
            <a:fillRect/>
          </a:stretch>
        </p:blipFill>
        <p:spPr bwMode="auto">
          <a:xfrm>
            <a:off x="7282286" y="1000919"/>
            <a:ext cx="3980101" cy="574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9385" y="1071342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  <a:endParaRPr lang="en-US" sz="22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60DEBBB-AD2B-766E-32FE-AB5BCF243F01}"/>
              </a:ext>
            </a:extLst>
          </p:cNvPr>
          <p:cNvSpPr txBox="1"/>
          <p:nvPr/>
        </p:nvSpPr>
        <p:spPr>
          <a:xfrm>
            <a:off x="396738" y="1718655"/>
            <a:ext cx="7199508" cy="27699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extensions for VS Code and JetBrains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scanning during AI code generation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code support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compliance and audit reporting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tamper-proof security reports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popular AI coding platforms</a:t>
            </a:r>
          </a:p>
          <a:p>
            <a:pPr marL="283464" indent="-283464" algn="just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governance and policy enforcement features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8077044-2447-F20F-732E-F59B0876B1BE}"/>
              </a:ext>
            </a:extLst>
          </p:cNvPr>
          <p:cNvSpPr txBox="1"/>
          <p:nvPr/>
        </p:nvSpPr>
        <p:spPr>
          <a:xfrm>
            <a:off x="331183" y="927350"/>
            <a:ext cx="5904091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2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6B000-237D-0FED-3FF0-5FE978FF8E88}"/>
              </a:ext>
            </a:extLst>
          </p:cNvPr>
          <p:cNvGrpSpPr/>
          <p:nvPr/>
        </p:nvGrpSpPr>
        <p:grpSpPr>
          <a:xfrm>
            <a:off x="6877050" y="1711251"/>
            <a:ext cx="5200650" cy="3743899"/>
            <a:chOff x="6226629" y="1485900"/>
            <a:chExt cx="5965371" cy="4294414"/>
          </a:xfrm>
        </p:grpSpPr>
        <p:pic>
          <p:nvPicPr>
            <p:cNvPr id="3" name="Picture 2" descr="A hand touching a magnifying glass over a clipboard&#10;&#10;AI-generated content may be incorrect.">
              <a:extLst>
                <a:ext uri="{FF2B5EF4-FFF2-40B4-BE49-F238E27FC236}">
                  <a16:creationId xmlns:a16="http://schemas.microsoft.com/office/drawing/2014/main" id="{D2150545-F4E6-B1E8-2BA5-178321AE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83"/>
            <a:stretch/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498800-1547-FF45-1083-10EDB6755288}"/>
                </a:ext>
              </a:extLst>
            </p:cNvPr>
            <p:cNvCxnSpPr/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7357E5D4-E88F-37E5-74E7-633F944B11CE}"/>
              </a:ext>
            </a:extLst>
          </p:cNvPr>
          <p:cNvSpPr txBox="1"/>
          <p:nvPr/>
        </p:nvSpPr>
        <p:spPr>
          <a:xfrm>
            <a:off x="485343" y="1434252"/>
            <a:ext cx="6391707" cy="27699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  <a:tabLst>
                <a:tab pos="299085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CodeTrust AI addresses a critical gap in modern software development by securing AI-generated code. As AI coding tools become mainstream, security risks increase silently. CodeTrust AI ensures that innovation does not compromise security by providing automated vulnerability detection, hallucination-aware analysis, and explainable secure fixes. The platform strengthens developer trust in AI-generated code and promotes responsible AI adoption in real-world software systems.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98C442-216F-0AFF-7F38-7D870EA0918B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386A49-2AFF-C581-4F70-D6CF61537C07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https://www.freepik.com/</a:t>
              </a:r>
              <a:endParaRPr lang="en-US" sz="11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C3D488-31F2-374D-B1E9-85C3F7A3279B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95B5C3-B614-18BE-1656-AF0EE581E44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/>
                  <a:t>Source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94F08D-DCBE-2424-B4B5-ADEDA76E75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8BF57D1-795B-C082-EBF5-FAD686110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</TotalTime>
  <Words>1215</Words>
  <Application>Microsoft Office PowerPoint</Application>
  <PresentationFormat>Widescreen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Simple Light</vt:lpstr>
      <vt:lpstr>PowerPoint Presentation</vt:lpstr>
      <vt:lpstr>Project overview - Introduction</vt:lpstr>
      <vt:lpstr>Problem Statement</vt:lpstr>
      <vt:lpstr>Project Objectives </vt:lpstr>
      <vt:lpstr>End User</vt:lpstr>
      <vt:lpstr>Wow factor</vt:lpstr>
      <vt:lpstr>Modelling</vt:lpstr>
      <vt:lpstr>Result / Outcomes</vt:lpstr>
      <vt:lpstr>Future Perspective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SHABBIR SHAIKH</cp:lastModifiedBy>
  <cp:revision>33</cp:revision>
  <dcterms:created xsi:type="dcterms:W3CDTF">2024-06-24T09:04:39Z</dcterms:created>
  <dcterms:modified xsi:type="dcterms:W3CDTF">2026-03-17T09:46:28Z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